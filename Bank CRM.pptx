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6" r:id="rId22"/>
    <p:sldId id="280" r:id="rId23"/>
    <p:sldId id="281" r:id="rId24"/>
    <p:sldId id="277" r:id="rId25"/>
    <p:sldId id="27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2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92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A1F2-16FA-D68C-862C-79E7A3B97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FBA03-B977-6E5C-CA14-E0D32CFA5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B55D7-0B22-AF73-CE0C-073FBBA53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2C4EB-0569-4725-FD71-3E5BECC614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23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74D4-F085-82A1-D1A9-3D275572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277AC-8B2E-EDE0-7846-8B0ECC13B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1989E1-B643-5085-4A84-A2AC614A1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CE9DE-EDF3-2530-BFE7-AB940A109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065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6EBD4-FA7C-EF55-E36A-F1347276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A1156-D49D-FA4E-ADE0-D630C8A49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B71FD-78C2-0176-DEE8-A072772C79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2974C-D2F4-3F0A-03CC-A02497EA9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90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CRM Development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 Bank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four years of customer, account, and transaction data into a clear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of why customers leave — and what will make them stay.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617720"/>
            <a:ext cx="7106568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63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RAWAT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1848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01368" y="16367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01368" y="1955133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Analytical CRM means for this bank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7648" y="141732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61848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62088" y="163677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62088" y="1955133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customer churn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29718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31729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801368" y="31912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01368" y="3509613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structure &amp; data quality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27648" y="29718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317296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62088" y="319125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Landscape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62088" y="3509613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when &amp; who is leaving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5262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472744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801368" y="47457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801368" y="5064093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truly predicts churn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27648" y="452628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56248" y="472744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62088" y="4745736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Dashboard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62088" y="5064093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the live CRM view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Analytical CRM Means for This Bank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90472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Analytical CRM turns raw customer, account, and transaction records into a decision-making tool. Instead of reacting to attrition after the fact, the bank can segment its customer base, observe behavioral patterns, predict who is likely to leave, and act — before the relationship ends.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675888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b="1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of this project is simple: </a:t>
            </a:r>
            <a:r>
              <a:rPr lang="en-US" sz="1500" i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customer satisfaction and retention by tailoring offers and engagement based on what the data actually shows — not assumptions.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52360" y="1893193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7452360" y="1902529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1875097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92440" y="2026533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behavior, geography, and value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52360" y="2886344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7452360" y="287700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92440" y="2858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92440" y="30189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engagement, product usage &amp; activity over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52360" y="3907475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3907475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92440" y="3880043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092440" y="4030919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signals of future churn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4900623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489129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2440" y="486386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92440" y="502388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insight into targeted retention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 STATEMENT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693261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 of Customer Churn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66928" y="1600200"/>
            <a:ext cx="6675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— the rate at which customers discontinue using the bank’s services — directly erodes revenue and long-term profitability. This analysis examines churn through the lens of gender, recent trends, credit card ownership, product usage, credit score, and geography, with one goal: identify why customers leave, and what will make them stay.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3977640"/>
            <a:ext cx="667512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Pinpoint the drivers of attrition across demographic, financial, and behavioral dimensions — then translate every finding into a concrete strategy to lift retention.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680960" y="160020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7680960" y="196596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3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20.37%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7680960" y="2788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customer churn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0" y="3206926"/>
            <a:ext cx="33375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3192932"/>
            <a:ext cx="3429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every 5 customers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already left the bank —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retention this analysis’s</a:t>
            </a:r>
            <a:endParaRPr lang="en-US" sz="12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01000" y="4681166"/>
            <a:ext cx="33375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4892971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10K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680960" y="53505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analyzed, 2016–2019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FOUNDATION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Clean, Relational View of the Customer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11027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spans </a:t>
            </a: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relational tables 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one core fact table, joined by CustomerID. Every field below was validated — </a:t>
            </a: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contains zero missing values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847088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2157984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for each customer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392424" y="1737360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1847088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29584" y="2157984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score → Poor / Good / Very Good / Excellent / Super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217920" y="1737360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847088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2157984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Customer’s country: France, Germany, or Spain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9043416" y="1737360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0576" y="1847088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180576" y="2157984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or Female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3044952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315468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" y="3465576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— key demographic driver of behavior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392424" y="3044952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9584" y="315468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29584" y="3465576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associated with the bank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217920" y="3044952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315468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3465576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 balance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9043416" y="3044952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315468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NumOfProducts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80576" y="3465576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bank products subscribed to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66928" y="4352544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" y="4462272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HasCrCard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4088" y="4773168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customer holds a credit card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392424" y="4352544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9584" y="4462272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IsActiveMember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3529584" y="4773168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engaged (1) vs. inactive (0)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217920" y="4352544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462272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EstimatedSalary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355080" y="4773168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income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9043416" y="4352544"/>
            <a:ext cx="2688336" cy="1170432"/>
          </a:xfrm>
          <a:prstGeom prst="roundRect">
            <a:avLst>
              <a:gd name="adj" fmla="val 4688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0576" y="4462272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9180576" y="4773168"/>
            <a:ext cx="241401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flag — 1 if the customer has left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562356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analyzed   ·   </a:t>
            </a:r>
            <a:r>
              <a:rPr lang="en-US" sz="1250" dirty="0">
                <a:solidFill>
                  <a:srgbClr val="E7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purely categorical (Gender, Geography, Active status, Exit status, Credit Card)   ·   </a:t>
            </a: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found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EFE03-87FE-2887-03E4-661DFAD78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C0F104-D710-973E-607C-75842E100A68}"/>
              </a:ext>
            </a:extLst>
          </p:cNvPr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FOUNDATION (DATABASE SCHEMA)</a:t>
            </a:r>
            <a:endParaRPr lang="en-US" sz="11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925B2CF-CCB7-E857-B26E-D694144DAC95}"/>
              </a:ext>
            </a:extLst>
          </p:cNvPr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1DC82A7-4EE3-BD8C-CCBE-244C9310B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22" y="731648"/>
            <a:ext cx="10929955" cy="539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4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Persistent ~20% Churn Rate, Year After Year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685800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6528816" cy="4562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35240" y="1280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YEAR-BY-YEAR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35240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732520" y="16459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19.27%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35240" y="2130552"/>
            <a:ext cx="40233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35240" y="2258568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732520" y="23042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22.35%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7635240" y="2788920"/>
            <a:ext cx="40233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35240" y="2916936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8732520" y="296265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20.21%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635240" y="3447288"/>
            <a:ext cx="40233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5240" y="3575304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732520" y="362102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3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19.86%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635240" y="4105656"/>
            <a:ext cx="402336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35240" y="434340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marked the peak of attrition. Despite year-over-year fluctuation, churn has never dropped below 19% — this is a structural issue, not a one-time event.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Germany: Smaller Base, Bigger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539496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5065776" cy="3648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2852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account balance by geography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548640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8" name="Image 1" descr="/home/claude/bankcrm/build/img/image2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6792" y="1399032"/>
            <a:ext cx="5157216" cy="3648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52852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 and churn rate by region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" y="5669280"/>
            <a:ext cx="11064240" cy="777240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1520" y="5747004"/>
            <a:ext cx="107716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</a:t>
            </a: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largest active base and the highest total balance (40.7%).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B3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</a:t>
            </a: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fewest active members yet the highest churn rate and highest average balance among exits — the bank’s clearest financial risk.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Risk Climbs Sharply After Age 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667512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6345936" cy="45628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543800" y="137160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43800" y="1371600"/>
            <a:ext cx="91440" cy="1417320"/>
          </a:xfrm>
          <a:prstGeom prst="roundRect">
            <a:avLst/>
          </a:prstGeom>
          <a:solidFill>
            <a:srgbClr val="B3272D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15179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years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18120" y="18745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3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44.65%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881119" y="16916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segment — nearly 1 in 2 leave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297180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43800" y="2971800"/>
            <a:ext cx="91440" cy="141732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31181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31–50 years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18120" y="34747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19.58%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881119" y="32918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— the largest customer group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543800" y="4572000"/>
            <a:ext cx="4069080" cy="1417320"/>
          </a:xfrm>
          <a:prstGeom prst="roundRect">
            <a:avLst>
              <a:gd name="adj" fmla="val 516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43800" y="4572000"/>
            <a:ext cx="91440" cy="1417320"/>
          </a:xfrm>
          <a:prstGeom prst="roundRect">
            <a:avLst/>
          </a:prstGeom>
          <a:solidFill>
            <a:srgbClr val="1B7A6E"/>
          </a:solidFill>
          <a:ln/>
        </p:spPr>
      </p:sp>
      <p:sp>
        <p:nvSpPr>
          <p:cNvPr id="18" name="Text 15"/>
          <p:cNvSpPr/>
          <p:nvPr/>
        </p:nvSpPr>
        <p:spPr>
          <a:xfrm>
            <a:off x="7818120" y="471830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18–30 years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818120" y="50749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7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7.52%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9881119" y="489204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loyal segment by a wide margin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Weaker Credit Health, Higher Exit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SEGMENTED BY CREDIT SCORE — EXIT RATE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68580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6" name="Image 0" descr="/home/claude/bankcrm/build/img/image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719072"/>
            <a:ext cx="6528816" cy="14996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611880"/>
            <a:ext cx="6858000" cy="914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611880"/>
            <a:ext cx="6693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3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credit (300–579) </a:t>
            </a: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 at </a:t>
            </a:r>
            <a:r>
              <a:rPr lang="en-US" sz="1400" b="1" dirty="0">
                <a:solidFill>
                  <a:srgbClr val="B3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22.02%</a:t>
            </a: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highest of any credit segment.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" y="4709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VOLUME BY CREDIT SCORE BUCKET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" y="5029200"/>
            <a:ext cx="68580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11" name="Image 1" descr="/home/claude/bankcrm/build/img/image19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62708" y="5166360"/>
            <a:ext cx="6266439" cy="117605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80960" y="1526487"/>
            <a:ext cx="3931920" cy="4892040"/>
          </a:xfrm>
          <a:prstGeom prst="roundRect">
            <a:avLst>
              <a:gd name="adj" fmla="val 2326"/>
            </a:avLst>
          </a:prstGeom>
          <a:solidFill>
            <a:srgbClr val="0B2545"/>
          </a:solidFill>
          <a:ln/>
        </p:spPr>
      </p:sp>
      <p:sp>
        <p:nvSpPr>
          <p:cNvPr id="13" name="Text 9"/>
          <p:cNvSpPr/>
          <p:nvPr/>
        </p:nvSpPr>
        <p:spPr>
          <a:xfrm>
            <a:off x="7909560" y="1783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TWO VIEWS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909560" y="2103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rate isolates risk per segment. Churn volume shows where the customer base is concentrated.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909560" y="3093103"/>
            <a:ext cx="347472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09560" y="3331028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“Fair” (580–669) sees the most churned customers in raw numbers simply because most customers fall in that range — while “Excellent” (800–850) sees the fewest, both in share and volume.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909560" y="4862186"/>
            <a:ext cx="347472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909560" y="5086121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909560" y="5122884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health is a genuine early-warning signal — not just a lending metric.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Loyalty Builds with Tenure — Until Year Five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694944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2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6620256" cy="4562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72984" y="125123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18120" y="17830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customers spend more.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0" y="1779159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builds engagement and share-of-wallet over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18120" y="320040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3081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customers churn more.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46720" y="3215139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distinct spike in attrition appears right at the 5-year mark.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18120" y="461772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compounds — mostly.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0" y="474442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longer-tenured customers are stickier, but year 5 is a watch-point worth a dedicated retention touchpoint.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Products, Stronger Loyalty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539496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1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5065776" cy="3968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5778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customers by number of products held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5486400" cy="4297680"/>
          </a:xfrm>
          <a:prstGeom prst="roundRect">
            <a:avLst>
              <a:gd name="adj" fmla="val 148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8" name="Image 1" descr="/home/claude/bankcrm/build/img/image27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6792" y="1399032"/>
            <a:ext cx="5157216" cy="39684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product-holding pattern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" y="594360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3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1,409 </a:t>
            </a: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exited customers held just </a:t>
            </a: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</a:t>
            </a: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by far the most common profile among leavers. Product depth is structural loyalty.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Card Ownership: Not the Differentiator You'd Expect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6583680" cy="4663440"/>
          </a:xfrm>
          <a:prstGeom prst="roundRect">
            <a:avLst>
              <a:gd name="adj" fmla="val 1373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536192"/>
            <a:ext cx="6254496" cy="43342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371600"/>
            <a:ext cx="4206240" cy="4663440"/>
          </a:xfrm>
          <a:prstGeom prst="roundRect">
            <a:avLst>
              <a:gd name="adj" fmla="val 2174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6916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20.18%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680960" y="2331720"/>
            <a:ext cx="3657600" cy="430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credit card holders (7,055 customers)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680960" y="2926080"/>
            <a:ext cx="365760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0" y="31089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20.81%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7680960" y="3749040"/>
            <a:ext cx="3657600" cy="430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among non-holders (2,945 customers)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680960" y="4343400"/>
            <a:ext cx="3657600" cy="0"/>
          </a:xfrm>
          <a:prstGeom prst="line">
            <a:avLst/>
          </a:prstGeom>
          <a:noFill/>
          <a:ln w="12700">
            <a:solidFill>
              <a:srgbClr val="E1E6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0" y="4526280"/>
            <a:ext cx="3657600" cy="1174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0.63-point gap is statistically negligible. Card ownership alone should not be treated as a retention lever — the bank’s effort is better spent elsewhere.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Bank's Seasonal Pulse of New Customers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1106424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10735056" cy="44256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608076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298" y="6080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 </a:t>
            </a: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March, September &amp; November </a:t>
            </a: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B3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Dips </a:t>
            </a: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3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&amp; October </a:t>
            </a: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reliable seasonal rhythm worth planning acquisition campaigns around.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CHURN LANDSCAPE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Loyal Customers Carry Little to No Balance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1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5157216" cy="41513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42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distribution — retained customers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8" name="Image 1" descr="/home/claude/bankcrm/build/img/image1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6792" y="1399032"/>
            <a:ext cx="5157216" cy="41513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5742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customer count by products — exited only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" y="6108192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610819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3,119</a:t>
            </a: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customers hold under $20K (many at $0) — low balance alone does not predict churn; it’s the norm, not a red flag.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ROOT CAUSE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Discrepancy Worth Fixing Before Any Model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5943600" cy="489204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2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3440" y="1818723"/>
            <a:ext cx="5492496" cy="37234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215778"/>
            <a:ext cx="4846320" cy="4892040"/>
          </a:xfrm>
          <a:prstGeom prst="roundRect">
            <a:avLst>
              <a:gd name="adj" fmla="val 1887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7040880" y="1517156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B327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735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7040880" y="230241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 customers were still flagged “Active Member” in the source data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040880" y="3200400"/>
            <a:ext cx="429768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3251717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D9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Logically, a customer who has left cannot still be active. This is a data-entry lag, not a true behavioral signal — and left uncorrected, it would quietly bias any churn model trained on this field.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059542" y="4568260"/>
            <a:ext cx="4297680" cy="0"/>
          </a:xfrm>
          <a:prstGeom prst="line">
            <a:avLst/>
          </a:prstGeom>
          <a:noFill/>
          <a:ln w="12700">
            <a:solidFill>
              <a:srgbClr val="2A4A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68873" y="47511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59542" y="49974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field, </a:t>
            </a:r>
            <a:r>
              <a:rPr lang="en-US" sz="13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IsActiveMember_Corrected</a:t>
            </a: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reclassifies every exited customer as Inactive — restoring logical consistency across the dataset.</a:t>
            </a:r>
            <a:endParaRPr lang="en-US" sz="13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ROOT CAUSE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Really Predicts Churn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5486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3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5157216" cy="2734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315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tenure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548640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8" name="Image 1" descr="/home/claude/bankcrm/build/img/image3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6792" y="1399032"/>
            <a:ext cx="5157216" cy="2734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43159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by number of products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66928" y="4709160"/>
            <a:ext cx="2688336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4088" y="4818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04088" y="5121201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04088" y="5302211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tenure (0–1 yrs) is a volatile testing phase; established customers settle into a predictable 19–22% band.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37560" y="4709160"/>
            <a:ext cx="2688336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0" y="4818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IsActiveMember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474720" y="5121201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B3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474720" y="5302211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members have often “mentally churned” already — the single strongest predictor in the dataset.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08192" y="4709160"/>
            <a:ext cx="2688336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45352" y="4818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NumOfProducts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245352" y="5121201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245352" y="5302211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= zero switching cost, high churn. Three to four products = deep loyalty, rarely leave.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878824" y="4709160"/>
            <a:ext cx="2688336" cy="1691640"/>
          </a:xfrm>
          <a:prstGeom prst="roundRect">
            <a:avLst>
              <a:gd name="adj" fmla="val 3243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015984" y="4818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EstimatedSalary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9015984" y="5121201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9015984" y="5302211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Surprisingly, raw income barely predicts loyalty — high earners churn for better rates just as easily.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ROOT CAUSE 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Dead Ends: Salary Explains Neither Balance Nor Credit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5" name="Image 0" descr="/home/claude/bankcrm/build/img/image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399032"/>
            <a:ext cx="5157216" cy="38770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486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vs. account balance, by exit status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72200" y="123444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</p:spPr>
      </p:sp>
      <p:pic>
        <p:nvPicPr>
          <p:cNvPr id="8" name="Image 1" descr="/home/claude/bankcrm/build/img/image1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36792" y="1399032"/>
            <a:ext cx="5157216" cy="3877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5486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vs. credit score, by exit status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66928" y="5852160"/>
            <a:ext cx="11064240" cy="640080"/>
          </a:xfrm>
          <a:prstGeom prst="roundRect">
            <a:avLst>
              <a:gd name="adj" fmla="val 857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585216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trendlines sit essentially flat — confirming near-zero correlation in both cases.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is not a useful lens for predicting balance or creditworthiness; the bank should look to behavioral signals instead.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STRATEGY &amp; DASHBOARD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Customers Actually Leave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569405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69405"/>
            <a:ext cx="91440" cy="1965960"/>
          </a:xfrm>
          <a:prstGeom prst="roundRect">
            <a:avLst/>
          </a:prstGeom>
          <a:solidFill>
            <a:srgbClr val="B3272D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825437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Vulnerability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86968" y="2216011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over 50 exit at nearly 45% — likely dissatisfaction with product fit, terminology, or a sense of being underserved.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7648" y="1569405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7648" y="1569405"/>
            <a:ext cx="91440" cy="1965960"/>
          </a:xfrm>
          <a:prstGeom prst="round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647688" y="1825437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Profile Risk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647688" y="2216011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attrition trend exists among customers with credit scores below 700 — financial strain correlates with disengagement.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810615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810615"/>
            <a:ext cx="91440" cy="1965960"/>
          </a:xfrm>
          <a:prstGeom prst="roundRect">
            <a:avLst/>
          </a:prstGeom>
          <a:solidFill>
            <a:srgbClr val="1D4079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" y="4066647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Hotspot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86968" y="4457221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shows disproportionately high churn versus France and Spain, despite a smaller active base.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27648" y="3810615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 w="12700">
            <a:solidFill>
              <a:srgbClr val="E1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3810615"/>
            <a:ext cx="91440" cy="1965960"/>
          </a:xfrm>
          <a:prstGeom prst="roundRect">
            <a:avLst/>
          </a:prstGeom>
          <a:solidFill>
            <a:srgbClr val="1B7A6E"/>
          </a:solidFill>
          <a:ln/>
        </p:spPr>
      </p:sp>
      <p:sp>
        <p:nvSpPr>
          <p:cNvPr id="18" name="Text 16"/>
          <p:cNvSpPr/>
          <p:nvPr/>
        </p:nvSpPr>
        <p:spPr>
          <a:xfrm>
            <a:off x="6647688" y="4066647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&amp; Experience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47688" y="4457221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customer satisfaction — slow support, long wait times, unresolved issues — remains a primary, human driver of churn.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STRATEGY &amp; DASHBOARD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Insights to Actions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8096" y="2147344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50+ segment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557889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relationship managers, simplified product terms, and loyalty incentives for the highest-risk age group.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10" name="Text 8"/>
          <p:cNvSpPr/>
          <p:nvPr/>
        </p:nvSpPr>
        <p:spPr>
          <a:xfrm>
            <a:off x="4562856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62856" y="2147344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product relationships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2557889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cross-sell single-product customers into a 2nd or 3rd product — the single biggest lever against churn.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6448" y="1600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7647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57616" y="2147344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year-5 cliff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57616" y="2557889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dedicated retention touchpoint (review call, loyalty reward) as customers approach their 5-year mark.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9593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68096" y="4341904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Germany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8096" y="4752449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service quality and local competitive pressure in Germany specifically — its churn is structurally out of line.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61688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22" name="Text 20"/>
          <p:cNvSpPr/>
          <p:nvPr/>
        </p:nvSpPr>
        <p:spPr>
          <a:xfrm>
            <a:off x="4562856" y="39593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62856" y="4341904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 accounts in real time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62856" y="4752449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CRM-native “Churn Risk” flag (inactive + single product) to surface accounts before they leave, not after.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56448" y="379476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13315C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39593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357616" y="4341904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satisfaction at the source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57616" y="4752449"/>
            <a:ext cx="31638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D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support responsiveness and issue resolution speed — the most human, most controllable churn driver.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STRATEGY &amp; DASHBOARD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39281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Demographics Dashboard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10A102-645D-47A0-137B-240521EB0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443" y="1116877"/>
            <a:ext cx="9762066" cy="54868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BBEBF-7D5E-43DD-71DE-37E54A51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696915-DA28-033B-FC53-1DEE1E635657}"/>
              </a:ext>
            </a:extLst>
          </p:cNvPr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STRATEGY &amp; DASHBOARD</a:t>
            </a:r>
            <a:endParaRPr lang="en-US" sz="1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D209D2-80D8-062B-B8A9-66C6FE6F1B95}"/>
              </a:ext>
            </a:extLst>
          </p:cNvPr>
          <p:cNvSpPr/>
          <p:nvPr/>
        </p:nvSpPr>
        <p:spPr>
          <a:xfrm>
            <a:off x="548640" y="39281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Analysis Dashboard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4BF8A1-5138-3475-25B8-30BE53E61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725" y="1107546"/>
            <a:ext cx="9792549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38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7E48A-CD11-E860-C07E-A063A9821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B76376-AF27-040E-B2F1-BDF165404A2C}"/>
              </a:ext>
            </a:extLst>
          </p:cNvPr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STRATEGY &amp; DASHBOARD</a:t>
            </a:r>
            <a:endParaRPr lang="en-US" sz="1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0F6764-DF35-2725-D453-CE95FE9A187A}"/>
              </a:ext>
            </a:extLst>
          </p:cNvPr>
          <p:cNvSpPr/>
          <p:nvPr/>
        </p:nvSpPr>
        <p:spPr>
          <a:xfrm>
            <a:off x="548640" y="39281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Engagement Dashboard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C9106-241F-7E19-DEF3-069C2BA12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32" y="1086083"/>
            <a:ext cx="9769687" cy="55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060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6928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for Bank Leadership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3424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92491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6741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has held steady near 20% for four straight years despite steady new-customer growth — acquisition alone cannot outrun this leak.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784813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7754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599327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concentrates predictably: customers 50+, single-product holders, inactive members, and lower credit scores.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36540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64473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40575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is a structural outlier — highest churn, fewest active members — and merits a dedicated regional review.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467311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45799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281823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depth and active engagement are the strongest retention levers the bank directly controls.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29923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28989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09507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corrected, validated dataset and a live CRM risk flag now give the bank the foundation to act on all of this immediately.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2651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814564" y="3703320"/>
            <a:ext cx="28990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SHREYASH RAWAT</a:t>
            </a:r>
            <a:r>
              <a:rPr lang="en-US" sz="1200" dirty="0">
                <a:solidFill>
                  <a:srgbClr val="9FAC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Capstone Project: Analytical CRM Development for a Bank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1783</Words>
  <Application>Microsoft Office PowerPoint</Application>
  <PresentationFormat>Widescreen</PresentationFormat>
  <Paragraphs>257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Shreyash Rawat</dc:creator>
  <cp:lastModifiedBy>SHREYASH RAWAT</cp:lastModifiedBy>
  <cp:revision>3</cp:revision>
  <dcterms:created xsi:type="dcterms:W3CDTF">2026-07-28T08:14:24Z</dcterms:created>
  <dcterms:modified xsi:type="dcterms:W3CDTF">2026-08-04T13:41:21Z</dcterms:modified>
</cp:coreProperties>
</file>